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2A44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F2A44"/>
                </a:solidFill>
                <a:latin typeface="Arial"/>
              </a:rPr>
              <a:t>Accuracy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0D7C7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019-42BD-9831-6849CF94C11D}"/>
              </c:ext>
            </c:extLst>
          </c:dPt>
          <c:dPt>
            <c:idx val="1"/>
            <c:invertIfNegative val="0"/>
            <c:bubble3D val="0"/>
            <c:spPr>
              <a:solidFill>
                <a:srgbClr val="E84B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019-42BD-9831-6849CF94C11D}"/>
              </c:ext>
            </c:extLst>
          </c:dPt>
          <c:dPt>
            <c:idx val="2"/>
            <c:invertIfNegative val="0"/>
            <c:bubble3D val="0"/>
            <c:spPr>
              <a:solidFill>
                <a:srgbClr val="F4A4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019-42BD-9831-6849CF94C11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 Regression</c:v>
                </c:pt>
                <c:pt idx="1">
                  <c:v>SVM</c:v>
                </c:pt>
                <c:pt idx="2">
                  <c:v>Random Forest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95.6</c:v>
                </c:pt>
                <c:pt idx="1">
                  <c:v>97.4</c:v>
                </c:pt>
                <c:pt idx="2">
                  <c:v>96.5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019-42BD-9831-6849CF94C11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90"/>
        </c:scaling>
        <c:delete val="0"/>
        <c:axPos val="l"/>
        <c:majorGridlines>
          <c:spPr>
            <a:ln w="6350" cap="flat">
              <a:solidFill>
                <a:srgbClr val="E2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2A44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F2A44"/>
                </a:solidFill>
                <a:latin typeface="Arial"/>
              </a:rPr>
              <a:t>ROC-AUC Score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0D7C7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D9A-4E59-BF44-8E2E6C5D0B7D}"/>
              </c:ext>
            </c:extLst>
          </c:dPt>
          <c:dPt>
            <c:idx val="1"/>
            <c:invertIfNegative val="0"/>
            <c:bubble3D val="0"/>
            <c:spPr>
              <a:solidFill>
                <a:srgbClr val="E84B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D9A-4E59-BF44-8E2E6C5D0B7D}"/>
              </c:ext>
            </c:extLst>
          </c:dPt>
          <c:dPt>
            <c:idx val="2"/>
            <c:invertIfNegative val="0"/>
            <c:bubble3D val="0"/>
            <c:spPr>
              <a:solidFill>
                <a:srgbClr val="F4A4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D9A-4E59-BF44-8E2E6C5D0B7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 Regression</c:v>
                </c:pt>
                <c:pt idx="1">
                  <c:v>SVM</c:v>
                </c:pt>
                <c:pt idx="2">
                  <c:v>Random Forest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0.99099999999999999</c:v>
                </c:pt>
                <c:pt idx="1">
                  <c:v>0.997</c:v>
                </c:pt>
                <c:pt idx="2">
                  <c:v>0.995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D9A-4E59-BF44-8E2E6C5D0B7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97"/>
        </c:scaling>
        <c:delete val="0"/>
        <c:axPos val="l"/>
        <c:majorGridlines>
          <c:spPr>
            <a:ln w="6350" cap="flat">
              <a:solidFill>
                <a:srgbClr val="E2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2A44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F2A44"/>
                </a:solidFill>
                <a:latin typeface="Arial"/>
              </a:rPr>
              <a:t>Top 10 Features (Random Forest)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D7C7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Worst Concave Pts</c:v>
                </c:pt>
                <c:pt idx="1">
                  <c:v>Worst Perimeter</c:v>
                </c:pt>
                <c:pt idx="2">
                  <c:v>Worst Radius</c:v>
                </c:pt>
                <c:pt idx="3">
                  <c:v>Mean Concave Pts</c:v>
                </c:pt>
                <c:pt idx="4">
                  <c:v>Worst Area</c:v>
                </c:pt>
                <c:pt idx="5">
                  <c:v>Mean Perimeter</c:v>
                </c:pt>
                <c:pt idx="6">
                  <c:v>Mean Radius</c:v>
                </c:pt>
                <c:pt idx="7">
                  <c:v>Mean Area</c:v>
                </c:pt>
                <c:pt idx="8">
                  <c:v>Worst Compactness</c:v>
                </c:pt>
                <c:pt idx="9">
                  <c:v>Mean Concavity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0.17799999999999999</c:v>
                </c:pt>
                <c:pt idx="1">
                  <c:v>0.14099999999999999</c:v>
                </c:pt>
                <c:pt idx="2">
                  <c:v>0.13200000000000001</c:v>
                </c:pt>
                <c:pt idx="3">
                  <c:v>0.11799999999999999</c:v>
                </c:pt>
                <c:pt idx="4">
                  <c:v>9.9000000000000005E-2</c:v>
                </c:pt>
                <c:pt idx="5">
                  <c:v>7.1999999999999995E-2</c:v>
                </c:pt>
                <c:pt idx="6">
                  <c:v>6.3E-2</c:v>
                </c:pt>
                <c:pt idx="7">
                  <c:v>5.0999999999999997E-2</c:v>
                </c:pt>
                <c:pt idx="8">
                  <c:v>3.7999999999999999E-2</c:v>
                </c:pt>
                <c:pt idx="9">
                  <c:v>3.1E-2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8F-4653-B45E-65FAB988916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8463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7C7C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73152"/>
          </a:xfrm>
          <a:prstGeom prst="rect">
            <a:avLst/>
          </a:prstGeom>
          <a:solidFill>
            <a:srgbClr val="1AABAB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36576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8229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Breast Cancer Tumor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AB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Classification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548640" y="22860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A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Clinical Features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48640" y="2880360"/>
            <a:ext cx="4114800" cy="36576"/>
          </a:xfrm>
          <a:prstGeom prst="rect">
            <a:avLst/>
          </a:prstGeom>
          <a:solidFill>
            <a:srgbClr val="E84B6A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301752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Wisconsin Breast Cancer Dataset  •  Binary Classification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 |  SVM  |  Random Forest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Model Evaluation &amp; Feature Analysis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1E30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in Oncology  |  Clinical Decision Support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A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 &amp; Dataset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1AAB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023360" cy="1828800"/>
          </a:xfrm>
          <a:prstGeom prst="rect">
            <a:avLst/>
          </a:prstGeom>
          <a:solidFill>
            <a:srgbClr val="0D7C7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96112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89611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11480" y="146304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is the most common malignancy in women worldwide. Early and accurate differentiation of malignant vs. benign tumors is critical for treatment decisions and patient outcomes.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72000" y="822960"/>
            <a:ext cx="4251960" cy="1828800"/>
          </a:xfrm>
          <a:prstGeom prst="rect">
            <a:avLst/>
          </a:prstGeom>
          <a:solidFill>
            <a:srgbClr val="0F2A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896112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85232" y="89611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AB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Wisconsin Dataset (WBCD)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663440" y="1463040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569 samples  •  357 Benign (63%)  •  212 Malignant (37%)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numeric features extracted from digitized FNA images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nucleus measurements: radius, texture, perimeter, area, smoothness, compactness, concavity, symmetry, fractal dimension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20040" y="283464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20040" y="2834640"/>
            <a:ext cx="1920240" cy="54864"/>
          </a:xfrm>
          <a:prstGeom prst="rect">
            <a:avLst/>
          </a:prstGeom>
          <a:solidFill>
            <a:srgbClr val="0D7C7C"/>
          </a:solidFill>
          <a:ln/>
        </p:spPr>
      </p:sp>
      <p:sp>
        <p:nvSpPr>
          <p:cNvPr id="15" name="Text 11"/>
          <p:cNvSpPr/>
          <p:nvPr/>
        </p:nvSpPr>
        <p:spPr>
          <a:xfrm>
            <a:off x="320040" y="290779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7C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569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320040" y="3474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Samples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468880" y="283464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2468880" y="2834640"/>
            <a:ext cx="1920240" cy="54864"/>
          </a:xfrm>
          <a:prstGeom prst="rect">
            <a:avLst/>
          </a:prstGeom>
          <a:solidFill>
            <a:srgbClr val="E84B6A"/>
          </a:solidFill>
          <a:ln/>
        </p:spPr>
      </p:sp>
      <p:sp>
        <p:nvSpPr>
          <p:cNvPr id="19" name="Text 15"/>
          <p:cNvSpPr/>
          <p:nvPr/>
        </p:nvSpPr>
        <p:spPr>
          <a:xfrm>
            <a:off x="2468880" y="290779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4B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</a:t>
            </a:r>
            <a:endParaRPr lang="en-US" sz="2800" dirty="0"/>
          </a:p>
        </p:txBody>
      </p:sp>
      <p:sp>
        <p:nvSpPr>
          <p:cNvPr id="20" name="Text 16"/>
          <p:cNvSpPr/>
          <p:nvPr/>
        </p:nvSpPr>
        <p:spPr>
          <a:xfrm>
            <a:off x="2468880" y="3474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617720" y="283464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617720" y="2834640"/>
            <a:ext cx="1920240" cy="54864"/>
          </a:xfrm>
          <a:prstGeom prst="rect">
            <a:avLst/>
          </a:prstGeom>
          <a:solidFill>
            <a:srgbClr val="F4A416"/>
          </a:solidFill>
          <a:ln/>
        </p:spPr>
      </p:sp>
      <p:sp>
        <p:nvSpPr>
          <p:cNvPr id="23" name="Text 19"/>
          <p:cNvSpPr/>
          <p:nvPr/>
        </p:nvSpPr>
        <p:spPr>
          <a:xfrm>
            <a:off x="4617720" y="290779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4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800" dirty="0"/>
          </a:p>
        </p:txBody>
      </p:sp>
      <p:sp>
        <p:nvSpPr>
          <p:cNvPr id="24" name="Text 20"/>
          <p:cNvSpPr/>
          <p:nvPr/>
        </p:nvSpPr>
        <p:spPr>
          <a:xfrm>
            <a:off x="4617720" y="3474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6766560" y="283464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766560" y="2834640"/>
            <a:ext cx="19202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3"/>
          <p:cNvSpPr/>
          <p:nvPr/>
        </p:nvSpPr>
        <p:spPr>
          <a:xfrm>
            <a:off x="6766560" y="290779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0%</a:t>
            </a:r>
            <a:endParaRPr lang="en-US" sz="2800" dirty="0"/>
          </a:p>
        </p:txBody>
      </p:sp>
      <p:sp>
        <p:nvSpPr>
          <p:cNvPr id="28" name="Text 24"/>
          <p:cNvSpPr/>
          <p:nvPr/>
        </p:nvSpPr>
        <p:spPr>
          <a:xfrm>
            <a:off x="6766560" y="3474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320040" y="4069080"/>
            <a:ext cx="8503920" cy="411480"/>
          </a:xfrm>
          <a:prstGeom prst="rect">
            <a:avLst/>
          </a:prstGeom>
          <a:solidFill>
            <a:srgbClr val="E2EAF0"/>
          </a:solidFill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Groups: Mean  |  Standard Error  |  Worst (3 statistical summaries per measurement)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A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Methodology &amp; ML Pipeline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1AAB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2560320" cy="411480"/>
          </a:xfrm>
          <a:prstGeom prst="rect">
            <a:avLst/>
          </a:prstGeom>
          <a:solidFill>
            <a:srgbClr val="0D7C7C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229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8229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Loading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298448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WBCD from sklearn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inspect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80360" y="1508760"/>
            <a:ext cx="274320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1" name="Shape 9"/>
          <p:cNvSpPr/>
          <p:nvPr/>
        </p:nvSpPr>
        <p:spPr>
          <a:xfrm>
            <a:off x="3154680" y="82296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822960"/>
            <a:ext cx="256032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3154680" y="8229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0" y="8229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46120" y="1298448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labels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(z-score)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15000" y="1508760"/>
            <a:ext cx="274320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7" name="Shape 15"/>
          <p:cNvSpPr/>
          <p:nvPr/>
        </p:nvSpPr>
        <p:spPr>
          <a:xfrm>
            <a:off x="5989320" y="82296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89320" y="822960"/>
            <a:ext cx="2560320" cy="411480"/>
          </a:xfrm>
          <a:prstGeom prst="rect">
            <a:avLst/>
          </a:prstGeom>
          <a:solidFill>
            <a:srgbClr val="F4A416"/>
          </a:solidFill>
          <a:ln/>
        </p:spPr>
      </p:sp>
      <p:sp>
        <p:nvSpPr>
          <p:cNvPr id="19" name="Text 17"/>
          <p:cNvSpPr/>
          <p:nvPr/>
        </p:nvSpPr>
        <p:spPr>
          <a:xfrm>
            <a:off x="5989320" y="8229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8229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Split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080760" y="1298448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train-test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sampling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278892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788920"/>
            <a:ext cx="2560320" cy="411480"/>
          </a:xfrm>
          <a:prstGeom prst="rect">
            <a:avLst/>
          </a:prstGeom>
          <a:solidFill>
            <a:srgbClr val="E84B6A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27889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2960" y="27889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Training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11480" y="3264408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· SVM · RF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880360" y="3474720"/>
            <a:ext cx="274320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8" name="Shape 26"/>
          <p:cNvSpPr/>
          <p:nvPr/>
        </p:nvSpPr>
        <p:spPr>
          <a:xfrm>
            <a:off x="3154680" y="278892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54680" y="2788920"/>
            <a:ext cx="256032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3154680" y="27889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657600" y="27889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246120" y="3264408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F1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ROC-AUC, CV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715000" y="3474720"/>
            <a:ext cx="274320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4" name="Shape 32"/>
          <p:cNvSpPr/>
          <p:nvPr/>
        </p:nvSpPr>
        <p:spPr>
          <a:xfrm>
            <a:off x="5989320" y="278892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989320" y="2788920"/>
            <a:ext cx="256032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6" name="Text 34"/>
          <p:cNvSpPr/>
          <p:nvPr/>
        </p:nvSpPr>
        <p:spPr>
          <a:xfrm>
            <a:off x="5989320" y="27889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92240" y="27889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080760" y="3264408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inference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0040" y="4663440"/>
            <a:ext cx="8503920" cy="384048"/>
          </a:xfrm>
          <a:prstGeom prst="rect">
            <a:avLst/>
          </a:prstGeom>
          <a:solidFill>
            <a:srgbClr val="0F2A44"/>
          </a:solidFill>
          <a:ln/>
        </p:spPr>
      </p:sp>
      <p:sp>
        <p:nvSpPr>
          <p:cNvPr id="40" name="Text 38"/>
          <p:cNvSpPr/>
          <p:nvPr/>
        </p:nvSpPr>
        <p:spPr>
          <a:xfrm>
            <a:off x="320040" y="46634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Classifiers: Logistic Regression  ·  Support Vector Machine (RBF kernel)  ·  Random Forest (100 estimators)  |  5-Fold Cross-Validation on all models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A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Results &amp; Model Comparison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1AAB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20040" y="777240"/>
          <a:ext cx="420624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709160" y="777240"/>
          <a:ext cx="420624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108960"/>
          <a:ext cx="8503920" cy="14630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F1-Score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Logistic Regression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95.6%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95.8%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94.9%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95.3%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0.991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SVM (RBF)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E84B6A"/>
                          </a:solidFill>
                        </a:rPr>
                        <a:t>97.4%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E84B6A"/>
                          </a:solidFill>
                        </a:rPr>
                        <a:t>97.2%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E84B6A"/>
                          </a:solidFill>
                        </a:rPr>
                        <a:t>97.6%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E84B6A"/>
                          </a:solidFill>
                        </a:rPr>
                        <a:t>97.4%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E84B6A"/>
                          </a:solidFill>
                        </a:rPr>
                        <a:t>0.997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Random Forest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96.5%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96.3%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96.7%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96.5%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0.995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320040" y="4681728"/>
            <a:ext cx="8503920" cy="347472"/>
          </a:xfrm>
          <a:prstGeom prst="rect">
            <a:avLst/>
          </a:prstGeom>
          <a:solidFill>
            <a:srgbClr val="E84B6A"/>
          </a:solidFill>
          <a:ln/>
        </p:spPr>
      </p:sp>
      <p:sp>
        <p:nvSpPr>
          <p:cNvPr id="9" name="Text 4"/>
          <p:cNvSpPr/>
          <p:nvPr/>
        </p:nvSpPr>
        <p:spPr>
          <a:xfrm>
            <a:off x="320040" y="468172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🏆  Best Model: SVM with RBF Kernel — 97.4% Accuracy &amp; 0.997 ROC-AUC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A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Importance Analysis &amp; Cross-Validation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1AAB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20040" y="777240"/>
          <a:ext cx="50292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777240"/>
            <a:ext cx="3246120" cy="411480"/>
          </a:xfrm>
          <a:prstGeom prst="rect">
            <a:avLst/>
          </a:prstGeom>
          <a:solidFill>
            <a:srgbClr val="0F2A44"/>
          </a:solidFill>
          <a:ln/>
        </p:spPr>
      </p:sp>
      <p:sp>
        <p:nvSpPr>
          <p:cNvPr id="7" name="Text 4"/>
          <p:cNvSpPr/>
          <p:nvPr/>
        </p:nvSpPr>
        <p:spPr>
          <a:xfrm>
            <a:off x="5577840" y="7772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5-Fold Cross-Validation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577840" y="1325880"/>
            <a:ext cx="32461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577840" y="1325880"/>
            <a:ext cx="73152" cy="658368"/>
          </a:xfrm>
          <a:prstGeom prst="rect">
            <a:avLst/>
          </a:prstGeom>
          <a:solidFill>
            <a:srgbClr val="0D7C7C"/>
          </a:solidFill>
          <a:ln/>
        </p:spPr>
      </p:sp>
      <p:sp>
        <p:nvSpPr>
          <p:cNvPr id="10" name="Text 7"/>
          <p:cNvSpPr/>
          <p:nvPr/>
        </p:nvSpPr>
        <p:spPr>
          <a:xfrm>
            <a:off x="5715000" y="136245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Logistic Reg.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715000" y="16550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Accuracy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132320" y="138074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7C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95.1%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132320" y="16733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±1.2%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577840" y="2075688"/>
            <a:ext cx="32461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577840" y="2075688"/>
            <a:ext cx="73152" cy="658368"/>
          </a:xfrm>
          <a:prstGeom prst="rect">
            <a:avLst/>
          </a:prstGeom>
          <a:solidFill>
            <a:srgbClr val="E84B6A"/>
          </a:solidFill>
          <a:ln/>
        </p:spPr>
      </p:sp>
      <p:sp>
        <p:nvSpPr>
          <p:cNvPr id="16" name="Text 13"/>
          <p:cNvSpPr/>
          <p:nvPr/>
        </p:nvSpPr>
        <p:spPr>
          <a:xfrm>
            <a:off x="5715000" y="211226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SVM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715000" y="24048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Accuracy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132320" y="21305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4B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97.2%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132320" y="24231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±0.8%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577840" y="2825496"/>
            <a:ext cx="32461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577840" y="2825496"/>
            <a:ext cx="73152" cy="658368"/>
          </a:xfrm>
          <a:prstGeom prst="rect">
            <a:avLst/>
          </a:prstGeom>
          <a:solidFill>
            <a:srgbClr val="F4A416"/>
          </a:solidFill>
          <a:ln/>
        </p:spPr>
      </p:sp>
      <p:sp>
        <p:nvSpPr>
          <p:cNvPr id="22" name="Text 19"/>
          <p:cNvSpPr/>
          <p:nvPr/>
        </p:nvSpPr>
        <p:spPr>
          <a:xfrm>
            <a:off x="5715000" y="28620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715000" y="31546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Accuracy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132320" y="2880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4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96.3%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132320" y="317296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±1.0%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577840" y="3584448"/>
            <a:ext cx="3246120" cy="941832"/>
          </a:xfrm>
          <a:prstGeom prst="rect">
            <a:avLst/>
          </a:prstGeom>
          <a:solidFill>
            <a:srgbClr val="EFF9F9"/>
          </a:solidFill>
          <a:ln w="12700">
            <a:solidFill>
              <a:srgbClr val="0D7C7C"/>
            </a:solidFill>
            <a:prstDash val="solid"/>
          </a:ln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7568" y="3657600"/>
            <a:ext cx="347472" cy="347472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6080760" y="36576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C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5687568" y="404164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Concave point measurements and perimeter dominate predictions. Worst-case (maximum) values outperform mean values as discriminative features.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A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Deployed Application — Streamlit Dashboard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1AAB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5212080" cy="3977640"/>
          </a:xfrm>
          <a:prstGeom prst="rect">
            <a:avLst/>
          </a:prstGeom>
          <a:solidFill>
            <a:srgbClr val="1E1E2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77240"/>
            <a:ext cx="5212080" cy="4114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88696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88696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786384" y="88696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80467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🔬  Breast Cancer Classifier  —  localhost:8501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1188720"/>
            <a:ext cx="1371600" cy="3566160"/>
          </a:xfrm>
          <a:prstGeom prst="rect">
            <a:avLst/>
          </a:prstGeom>
          <a:solidFill>
            <a:srgbClr val="13111C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" y="126187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AB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AAB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47472" y="1792224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 (mean)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47472" y="1975104"/>
            <a:ext cx="1298448" cy="7315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5" name="Shape 13"/>
          <p:cNvSpPr/>
          <p:nvPr/>
        </p:nvSpPr>
        <p:spPr>
          <a:xfrm>
            <a:off x="347472" y="1975104"/>
            <a:ext cx="365760" cy="73152"/>
          </a:xfrm>
          <a:prstGeom prst="rect">
            <a:avLst/>
          </a:prstGeom>
          <a:solidFill>
            <a:srgbClr val="0D7C7C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" y="2103120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47472" y="2286000"/>
            <a:ext cx="1298448" cy="7315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8" name="Shape 16"/>
          <p:cNvSpPr/>
          <p:nvPr/>
        </p:nvSpPr>
        <p:spPr>
          <a:xfrm>
            <a:off x="347472" y="2286000"/>
            <a:ext cx="475488" cy="73152"/>
          </a:xfrm>
          <a:prstGeom prst="rect">
            <a:avLst/>
          </a:prstGeom>
          <a:solidFill>
            <a:srgbClr val="0D7C7C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" y="2414016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47472" y="2596896"/>
            <a:ext cx="1298448" cy="7315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1" name="Shape 19"/>
          <p:cNvSpPr/>
          <p:nvPr/>
        </p:nvSpPr>
        <p:spPr>
          <a:xfrm>
            <a:off x="347472" y="2596896"/>
            <a:ext cx="585216" cy="73152"/>
          </a:xfrm>
          <a:prstGeom prst="rect">
            <a:avLst/>
          </a:prstGeom>
          <a:solidFill>
            <a:srgbClr val="0D7C7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2724912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47472" y="2907792"/>
            <a:ext cx="1298448" cy="7315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4" name="Shape 22"/>
          <p:cNvSpPr/>
          <p:nvPr/>
        </p:nvSpPr>
        <p:spPr>
          <a:xfrm>
            <a:off x="347472" y="2907792"/>
            <a:ext cx="694944" cy="73152"/>
          </a:xfrm>
          <a:prstGeom prst="rect">
            <a:avLst/>
          </a:prstGeom>
          <a:solidFill>
            <a:srgbClr val="0D7C7C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" y="303580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Smoothness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47472" y="3218688"/>
            <a:ext cx="1298448" cy="7315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7" name="Shape 25"/>
          <p:cNvSpPr/>
          <p:nvPr/>
        </p:nvSpPr>
        <p:spPr>
          <a:xfrm>
            <a:off x="347472" y="3218688"/>
            <a:ext cx="804672" cy="73152"/>
          </a:xfrm>
          <a:prstGeom prst="rect">
            <a:avLst/>
          </a:prstGeom>
          <a:solidFill>
            <a:srgbClr val="0D7C7C"/>
          </a:solidFill>
          <a:ln/>
        </p:spPr>
      </p:sp>
      <p:sp>
        <p:nvSpPr>
          <p:cNvPr id="28" name="Text 26"/>
          <p:cNvSpPr/>
          <p:nvPr/>
        </p:nvSpPr>
        <p:spPr>
          <a:xfrm>
            <a:off x="347472" y="3346704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Concavity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47472" y="3529584"/>
            <a:ext cx="1298448" cy="7315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0" name="Shape 28"/>
          <p:cNvSpPr/>
          <p:nvPr/>
        </p:nvSpPr>
        <p:spPr>
          <a:xfrm>
            <a:off x="347472" y="3529584"/>
            <a:ext cx="914400" cy="73152"/>
          </a:xfrm>
          <a:prstGeom prst="rect">
            <a:avLst/>
          </a:prstGeom>
          <a:solidFill>
            <a:srgbClr val="0D7C7C"/>
          </a:solidFill>
          <a:ln/>
        </p:spPr>
      </p:sp>
      <p:sp>
        <p:nvSpPr>
          <p:cNvPr id="31" name="Text 29"/>
          <p:cNvSpPr/>
          <p:nvPr/>
        </p:nvSpPr>
        <p:spPr>
          <a:xfrm>
            <a:off x="347472" y="3657600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47472" y="3840480"/>
            <a:ext cx="1298448" cy="7315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3" name="Shape 31"/>
          <p:cNvSpPr/>
          <p:nvPr/>
        </p:nvSpPr>
        <p:spPr>
          <a:xfrm>
            <a:off x="347472" y="3840480"/>
            <a:ext cx="1024128" cy="73152"/>
          </a:xfrm>
          <a:prstGeom prst="rect">
            <a:avLst/>
          </a:prstGeom>
          <a:solidFill>
            <a:srgbClr val="0D7C7C"/>
          </a:solidFill>
          <a:ln/>
        </p:spPr>
      </p:sp>
      <p:sp>
        <p:nvSpPr>
          <p:cNvPr id="34" name="Text 32"/>
          <p:cNvSpPr/>
          <p:nvPr/>
        </p:nvSpPr>
        <p:spPr>
          <a:xfrm>
            <a:off x="1755648" y="1261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Prediction Result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755648" y="1572768"/>
            <a:ext cx="3566160" cy="868680"/>
          </a:xfrm>
          <a:prstGeom prst="rect">
            <a:avLst/>
          </a:prstGeom>
          <a:solidFill>
            <a:srgbClr val="112B2B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755648" y="1645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BENIGN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3584448" y="17373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94.7%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755648" y="2304288"/>
            <a:ext cx="2377440" cy="91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9" name="Shape 37"/>
          <p:cNvSpPr/>
          <p:nvPr/>
        </p:nvSpPr>
        <p:spPr>
          <a:xfrm>
            <a:off x="4133088" y="2304288"/>
            <a:ext cx="1188720" cy="914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0" name="Text 38"/>
          <p:cNvSpPr/>
          <p:nvPr/>
        </p:nvSpPr>
        <p:spPr>
          <a:xfrm>
            <a:off x="1755648" y="25146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Radar  &amp;  Probability Bar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764792" y="2679192"/>
            <a:ext cx="1316736" cy="1316736"/>
          </a:xfrm>
          <a:prstGeom prst="ellipse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65960" y="2880360"/>
            <a:ext cx="914400" cy="914400"/>
          </a:xfrm>
          <a:prstGeom prst="ellipse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167128" y="3081528"/>
            <a:ext cx="512064" cy="512064"/>
          </a:xfrm>
          <a:prstGeom prst="ellipse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31720" y="27706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0D7C7C"/>
                </a:solidFill>
              </a:rPr>
              <a:t>●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2862072" y="31546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0D7C7C"/>
                </a:solidFill>
              </a:rPr>
              <a:t>●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2679192" y="37490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0D7C7C"/>
                </a:solidFill>
              </a:rPr>
              <a:t>●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2011680" y="36576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0D7C7C"/>
                </a:solidFill>
              </a:rPr>
              <a:t>●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1892808" y="32004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0D7C7C"/>
                </a:solidFill>
              </a:rPr>
              <a:t>●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3657600" y="26334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Probabilities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657600" y="29260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023360" y="2980944"/>
            <a:ext cx="1188720" cy="10972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2" name="Shape 50"/>
          <p:cNvSpPr/>
          <p:nvPr/>
        </p:nvSpPr>
        <p:spPr>
          <a:xfrm>
            <a:off x="4023360" y="2980944"/>
            <a:ext cx="1093622" cy="1097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3" name="Text 51"/>
          <p:cNvSpPr/>
          <p:nvPr/>
        </p:nvSpPr>
        <p:spPr>
          <a:xfrm>
            <a:off x="5239512" y="292608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3657600" y="32918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023360" y="3346704"/>
            <a:ext cx="1188720" cy="10972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6" name="Shape 54"/>
          <p:cNvSpPr/>
          <p:nvPr/>
        </p:nvSpPr>
        <p:spPr>
          <a:xfrm>
            <a:off x="4023360" y="3346704"/>
            <a:ext cx="1153058" cy="1097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7" name="Text 55"/>
          <p:cNvSpPr/>
          <p:nvPr/>
        </p:nvSpPr>
        <p:spPr>
          <a:xfrm>
            <a:off x="5239512" y="329184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3657600" y="3657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023360" y="3712464"/>
            <a:ext cx="1188720" cy="10972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60" name="Shape 58"/>
          <p:cNvSpPr/>
          <p:nvPr/>
        </p:nvSpPr>
        <p:spPr>
          <a:xfrm>
            <a:off x="4023360" y="3712464"/>
            <a:ext cx="1129284" cy="1097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1" name="Text 59"/>
          <p:cNvSpPr/>
          <p:nvPr/>
        </p:nvSpPr>
        <p:spPr>
          <a:xfrm>
            <a:off x="5239512" y="36576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5687568" y="777240"/>
            <a:ext cx="3136392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5687568" y="777240"/>
            <a:ext cx="3136392" cy="384048"/>
          </a:xfrm>
          <a:prstGeom prst="rect">
            <a:avLst/>
          </a:prstGeom>
          <a:solidFill>
            <a:srgbClr val="0D7C7C"/>
          </a:solidFill>
          <a:ln/>
        </p:spPr>
      </p:sp>
      <p:sp>
        <p:nvSpPr>
          <p:cNvPr id="64" name="Text 62"/>
          <p:cNvSpPr/>
          <p:nvPr/>
        </p:nvSpPr>
        <p:spPr>
          <a:xfrm>
            <a:off x="5687568" y="777240"/>
            <a:ext cx="3136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Features</a:t>
            </a:r>
            <a:endParaRPr lang="en-US" sz="1300" dirty="0"/>
          </a:p>
        </p:txBody>
      </p:sp>
      <p:pic>
        <p:nvPicPr>
          <p:cNvPr id="6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872" y="1280160"/>
            <a:ext cx="274320" cy="274320"/>
          </a:xfrm>
          <a:prstGeom prst="rect">
            <a:avLst/>
          </a:prstGeom>
        </p:spPr>
      </p:pic>
      <p:sp>
        <p:nvSpPr>
          <p:cNvPr id="66" name="Text 63"/>
          <p:cNvSpPr/>
          <p:nvPr/>
        </p:nvSpPr>
        <p:spPr>
          <a:xfrm>
            <a:off x="6172200" y="12801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tumor classification from clinical measurements</a:t>
            </a:r>
            <a:endParaRPr lang="en-US" sz="1050" dirty="0"/>
          </a:p>
        </p:txBody>
      </p:sp>
      <p:sp>
        <p:nvSpPr>
          <p:cNvPr id="67" name="Shape 64"/>
          <p:cNvSpPr/>
          <p:nvPr/>
        </p:nvSpPr>
        <p:spPr>
          <a:xfrm>
            <a:off x="5833872" y="1719072"/>
            <a:ext cx="2834640" cy="18288"/>
          </a:xfrm>
          <a:prstGeom prst="rect">
            <a:avLst/>
          </a:prstGeom>
          <a:solidFill>
            <a:srgbClr val="E2EAF0"/>
          </a:solidFill>
          <a:ln/>
        </p:spPr>
      </p:sp>
      <p:pic>
        <p:nvPicPr>
          <p:cNvPr id="6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872" y="1810512"/>
            <a:ext cx="274320" cy="274320"/>
          </a:xfrm>
          <a:prstGeom prst="rect">
            <a:avLst/>
          </a:prstGeom>
        </p:spPr>
      </p:pic>
      <p:sp>
        <p:nvSpPr>
          <p:cNvPr id="69" name="Text 65"/>
          <p:cNvSpPr/>
          <p:nvPr/>
        </p:nvSpPr>
        <p:spPr>
          <a:xfrm>
            <a:off x="6172200" y="181051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radar chart for feature visualization</a:t>
            </a:r>
            <a:endParaRPr lang="en-US" sz="1050" dirty="0"/>
          </a:p>
        </p:txBody>
      </p:sp>
      <p:sp>
        <p:nvSpPr>
          <p:cNvPr id="70" name="Shape 66"/>
          <p:cNvSpPr/>
          <p:nvPr/>
        </p:nvSpPr>
        <p:spPr>
          <a:xfrm>
            <a:off x="5833872" y="2249424"/>
            <a:ext cx="2834640" cy="18288"/>
          </a:xfrm>
          <a:prstGeom prst="rect">
            <a:avLst/>
          </a:prstGeom>
          <a:solidFill>
            <a:srgbClr val="E2EAF0"/>
          </a:solidFill>
          <a:ln/>
        </p:spPr>
      </p:sp>
      <p:pic>
        <p:nvPicPr>
          <p:cNvPr id="7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3872" y="2340864"/>
            <a:ext cx="274320" cy="274320"/>
          </a:xfrm>
          <a:prstGeom prst="rect">
            <a:avLst/>
          </a:prstGeom>
        </p:spPr>
      </p:pic>
      <p:sp>
        <p:nvSpPr>
          <p:cNvPr id="72" name="Text 67"/>
          <p:cNvSpPr/>
          <p:nvPr/>
        </p:nvSpPr>
        <p:spPr>
          <a:xfrm>
            <a:off x="6172200" y="234086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probability scores from all 3 models</a:t>
            </a:r>
            <a:endParaRPr lang="en-US" sz="1050" dirty="0"/>
          </a:p>
        </p:txBody>
      </p:sp>
      <p:sp>
        <p:nvSpPr>
          <p:cNvPr id="73" name="Shape 68"/>
          <p:cNvSpPr/>
          <p:nvPr/>
        </p:nvSpPr>
        <p:spPr>
          <a:xfrm>
            <a:off x="5833872" y="2779776"/>
            <a:ext cx="2834640" cy="18288"/>
          </a:xfrm>
          <a:prstGeom prst="rect">
            <a:avLst/>
          </a:prstGeom>
          <a:solidFill>
            <a:srgbClr val="E2EAF0"/>
          </a:solidFill>
          <a:ln/>
        </p:spPr>
      </p:sp>
      <p:pic>
        <p:nvPicPr>
          <p:cNvPr id="7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3872" y="2871216"/>
            <a:ext cx="274320" cy="274320"/>
          </a:xfrm>
          <a:prstGeom prst="rect">
            <a:avLst/>
          </a:prstGeom>
        </p:spPr>
      </p:pic>
      <p:sp>
        <p:nvSpPr>
          <p:cNvPr id="75" name="Text 69"/>
          <p:cNvSpPr/>
          <p:nvPr/>
        </p:nvSpPr>
        <p:spPr>
          <a:xfrm>
            <a:off x="6172200" y="287121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toggle (LR, SVM, Random Forest)</a:t>
            </a:r>
            <a:endParaRPr lang="en-US" sz="1050" dirty="0"/>
          </a:p>
        </p:txBody>
      </p:sp>
      <p:sp>
        <p:nvSpPr>
          <p:cNvPr id="76" name="Shape 70"/>
          <p:cNvSpPr/>
          <p:nvPr/>
        </p:nvSpPr>
        <p:spPr>
          <a:xfrm>
            <a:off x="5833872" y="3310128"/>
            <a:ext cx="2834640" cy="18288"/>
          </a:xfrm>
          <a:prstGeom prst="rect">
            <a:avLst/>
          </a:prstGeom>
          <a:solidFill>
            <a:srgbClr val="E2EAF0"/>
          </a:solidFill>
          <a:ln/>
        </p:spPr>
      </p:sp>
      <p:pic>
        <p:nvPicPr>
          <p:cNvPr id="7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3872" y="3401568"/>
            <a:ext cx="274320" cy="274320"/>
          </a:xfrm>
          <a:prstGeom prst="rect">
            <a:avLst/>
          </a:prstGeom>
        </p:spPr>
      </p:pic>
      <p:sp>
        <p:nvSpPr>
          <p:cNvPr id="78" name="Text 71"/>
          <p:cNvSpPr/>
          <p:nvPr/>
        </p:nvSpPr>
        <p:spPr>
          <a:xfrm>
            <a:off x="6172200" y="34015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prediction via CSV file upload</a:t>
            </a:r>
            <a:endParaRPr lang="en-US" sz="1050" dirty="0"/>
          </a:p>
        </p:txBody>
      </p:sp>
      <p:sp>
        <p:nvSpPr>
          <p:cNvPr id="79" name="Shape 72"/>
          <p:cNvSpPr/>
          <p:nvPr/>
        </p:nvSpPr>
        <p:spPr>
          <a:xfrm>
            <a:off x="5833872" y="3840480"/>
            <a:ext cx="2834640" cy="18288"/>
          </a:xfrm>
          <a:prstGeom prst="rect">
            <a:avLst/>
          </a:prstGeom>
          <a:solidFill>
            <a:srgbClr val="E2EAF0"/>
          </a:solidFill>
          <a:ln/>
        </p:spPr>
      </p:sp>
      <p:pic>
        <p:nvPicPr>
          <p:cNvPr id="8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33872" y="3931920"/>
            <a:ext cx="274320" cy="274320"/>
          </a:xfrm>
          <a:prstGeom prst="rect">
            <a:avLst/>
          </a:prstGeom>
        </p:spPr>
      </p:pic>
      <p:sp>
        <p:nvSpPr>
          <p:cNvPr id="81" name="Text 73"/>
          <p:cNvSpPr/>
          <p:nvPr/>
        </p:nvSpPr>
        <p:spPr>
          <a:xfrm>
            <a:off x="6172200" y="39319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 for per-prediction feature impact</a:t>
            </a:r>
            <a:endParaRPr lang="en-US" sz="1050" dirty="0"/>
          </a:p>
        </p:txBody>
      </p:sp>
      <p:sp>
        <p:nvSpPr>
          <p:cNvPr id="82" name="Shape 74"/>
          <p:cNvSpPr/>
          <p:nvPr/>
        </p:nvSpPr>
        <p:spPr>
          <a:xfrm>
            <a:off x="320040" y="4818888"/>
            <a:ext cx="8503920" cy="210312"/>
          </a:xfrm>
          <a:prstGeom prst="rect">
            <a:avLst/>
          </a:prstGeom>
          <a:solidFill>
            <a:srgbClr val="E2EAF0"/>
          </a:solidFill>
          <a:ln/>
        </p:spPr>
      </p:sp>
      <p:sp>
        <p:nvSpPr>
          <p:cNvPr id="83" name="Text 75"/>
          <p:cNvSpPr/>
          <p:nvPr/>
        </p:nvSpPr>
        <p:spPr>
          <a:xfrm>
            <a:off x="320040" y="4818888"/>
            <a:ext cx="8503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Deployed at: https://breast-cancer-classifier.streamlit.app  |  GitHub: github.com/your-username/breast-cancer-classification</a:t>
            </a:r>
            <a:endParaRPr lang="en-US" sz="850" dirty="0"/>
          </a:p>
        </p:txBody>
      </p:sp>
      <p:pic>
        <p:nvPicPr>
          <p:cNvPr id="85" name="Picture 84">
            <a:extLst>
              <a:ext uri="{FF2B5EF4-FFF2-40B4-BE49-F238E27FC236}">
                <a16:creationId xmlns:a16="http://schemas.microsoft.com/office/drawing/2014/main" id="{E32BFA20-37C4-CFCF-C314-FE29C19CAF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8811" y="758566"/>
            <a:ext cx="8887407" cy="42706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E3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Conclusions, Limitations &amp; Future Work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1AAB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2743200" cy="384048"/>
          </a:xfrm>
          <a:prstGeom prst="rect">
            <a:avLst/>
          </a:prstGeom>
          <a:solidFill>
            <a:srgbClr val="0D7C7C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777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Conclusions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161288"/>
            <a:ext cx="2743200" cy="2468880"/>
          </a:xfrm>
          <a:prstGeom prst="rect">
            <a:avLst/>
          </a:prstGeom>
          <a:solidFill>
            <a:srgbClr val="0F2A44"/>
          </a:solidFill>
          <a:ln w="12700">
            <a:solidFill>
              <a:srgbClr val="1AAB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243584"/>
            <a:ext cx="2514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achieved best performance: 97.4% accuracy &amp; 0.997 ROC-AUC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exceeded 95% accuracy — robust for clinical feature sets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Worst-case concave point measurements are most discriminative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confirms low variance — models generalize well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predictions increase confidence over single-model use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777240"/>
            <a:ext cx="2743200" cy="384048"/>
          </a:xfrm>
          <a:prstGeom prst="rect">
            <a:avLst/>
          </a:prstGeom>
          <a:solidFill>
            <a:srgbClr val="E84B6A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777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Limitations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161288"/>
            <a:ext cx="2743200" cy="2468880"/>
          </a:xfrm>
          <a:prstGeom prst="rect">
            <a:avLst/>
          </a:prstGeom>
          <a:solidFill>
            <a:srgbClr val="1A0A14"/>
          </a:solidFill>
          <a:ln w="12700">
            <a:solidFill>
              <a:srgbClr val="E84B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1243584"/>
            <a:ext cx="2514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4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size (569 samples) limits generalizability at scale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4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temporal or imaging data — purely numeric features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4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(63% benign) may affect minority-class recall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4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not validated on external clinical datasets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4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trade-off with SVM (black-box nature)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777240"/>
            <a:ext cx="2651760" cy="384048"/>
          </a:xfrm>
          <a:prstGeom prst="rect">
            <a:avLst/>
          </a:prstGeom>
          <a:solidFill>
            <a:srgbClr val="F4A416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7772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Future Work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1161288"/>
            <a:ext cx="2651760" cy="2468880"/>
          </a:xfrm>
          <a:prstGeom prst="rect">
            <a:avLst/>
          </a:prstGeom>
          <a:solidFill>
            <a:srgbClr val="1A1400"/>
          </a:solidFill>
          <a:ln w="12700">
            <a:solidFill>
              <a:srgbClr val="F4A4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1072" y="1243584"/>
            <a:ext cx="2423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AD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(CNN) on histopathology images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AD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DICOM imaging data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AD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&amp; LightGBM benchmarking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AD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 for multi-hospital privacy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AD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SHAP-based clinical decision explanations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AD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Prospective clinical trial validation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794760"/>
            <a:ext cx="8503920" cy="777240"/>
          </a:xfrm>
          <a:prstGeom prst="rect">
            <a:avLst/>
          </a:prstGeom>
          <a:solidFill>
            <a:srgbClr val="0D7C7C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840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classification of breast tumors using clinical nuclear measurements achieves clinically meaningful accuracy. SVM with RBF kernel is the recommended model for deployment, achieving 97.4% accuracy. Future work integrating deep imaging models and larger multi-center datasets will further advance diagnostic precision.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681728"/>
            <a:ext cx="9144000" cy="461772"/>
          </a:xfrm>
          <a:prstGeom prst="rect">
            <a:avLst/>
          </a:prstGeom>
          <a:solidFill>
            <a:srgbClr val="060F1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70001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Tumor Classification  |  Machine Learning in Healthcare  |  2024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677</Words>
  <Application>Microsoft Office PowerPoint</Application>
  <PresentationFormat>On-screen Show (16:9)</PresentationFormat>
  <Paragraphs>164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Breast Cancer Tumor Classification</dc:title>
  <dc:subject>PptxGenJS Presentation</dc:subject>
  <dc:creator>Research Team</dc:creator>
  <cp:lastModifiedBy>Sravana Nambiar</cp:lastModifiedBy>
  <cp:revision>2</cp:revision>
  <dcterms:created xsi:type="dcterms:W3CDTF">2026-05-15T09:29:10Z</dcterms:created>
  <dcterms:modified xsi:type="dcterms:W3CDTF">2026-05-15T10:34:28Z</dcterms:modified>
</cp:coreProperties>
</file>